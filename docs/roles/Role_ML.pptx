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73152"/>
          </a:xfrm>
          <a:prstGeom prst="rect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9144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나눔스퀘어라운드"/>
              </a:rPr>
              <a:t>ThinQ Workspace Sentinel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0972800" cy="7315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200" b="1">
                <a:solidFill>
                  <a:srgbClr val="1F2A4A"/>
                </a:solidFill>
                <a:latin typeface="나눔스퀘어라운드"/>
              </a:rPr>
              <a:t>ML 역할 가이드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17520"/>
            <a:ext cx="1097280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나눔스퀘어라운드"/>
              </a:rPr>
              <a:t>W3~W6 · 모듈 · 진입점 · DoD · 의존 그래프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나눔스퀘어라운드"/>
              </a:rPr>
              <a:t>2026-06-02 · LG DX School 5기 · 5분 대기조 · v1.0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640080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나눔스퀘어라운드"/>
              </a:rPr>
              <a:t>ThinQ Workspace Sentinel — ML 역할 가이드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73152"/>
            <a:ext cx="384048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나눔스퀘어라운드"/>
              </a:rPr>
              <a:t>p.1 / 6  ·  개요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48640"/>
            <a:ext cx="12191695" cy="54864"/>
          </a:xfrm>
          <a:prstGeom prst="rect">
            <a:avLst/>
          </a:prstGeom>
          <a:solidFill>
            <a:srgbClr val="1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나눔스퀘어라운드"/>
              </a:rPr>
              <a:t>github.com/zln02/thinq-workspace-sentinel  ·  2026-06-02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F2A4A"/>
                </a:solidFill>
                <a:latin typeface="나눔스퀘어라운드"/>
              </a:rPr>
              <a:t>담당 모듈 한눈에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554480"/>
            <a:ext cx="73152" cy="2286000"/>
          </a:xfrm>
          <a:prstGeom prst="rect">
            <a:avLst/>
          </a:prstGeom>
          <a:solidFill>
            <a:srgbClr val="1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" y="1554480"/>
            <a:ext cx="5413248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627632"/>
            <a:ext cx="521208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F2A4A"/>
                </a:solidFill>
                <a:latin typeface="나눔스퀘어라운드"/>
              </a:rPr>
              <a:t>주 폴더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011680"/>
            <a:ext cx="5212080" cy="17373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ml/forecaster/ — XGBoost 지역 감염 예측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ml/poi_calibration/ — Wells-Riley quanta 보정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ml/explainer/ — XGB importance + Granger + Calibration ECE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docs/ml/ — 모델 카드 + 백테스트 리포트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554480"/>
            <a:ext cx="73152" cy="2286000"/>
          </a:xfrm>
          <a:prstGeom prst="rect">
            <a:avLst/>
          </a:prstGeom>
          <a:solidFill>
            <a:srgbClr val="1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91072" y="1554480"/>
            <a:ext cx="5413248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627632"/>
            <a:ext cx="521208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F2A4A"/>
                </a:solidFill>
                <a:latin typeface="나눔스퀘어라운드"/>
              </a:rPr>
              <a:t>진입점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011680"/>
            <a:ext cx="5212080" cy="17373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python -m ml.forecaster.train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python -m ml.forecaster.backtest --regions all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jupyter lab notebooks/ (탐색)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023360"/>
            <a:ext cx="73152" cy="2194560"/>
          </a:xfrm>
          <a:prstGeom prst="rect">
            <a:avLst/>
          </a:prstGeom>
          <a:solidFill>
            <a:srgbClr val="1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023360"/>
            <a:ext cx="11082528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096512"/>
            <a:ext cx="1088136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F2A4A"/>
                </a:solidFill>
                <a:latin typeface="나눔스퀘어라운드"/>
              </a:rPr>
              <a:t>W3~W6 핵심 PR (5건)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480560"/>
            <a:ext cx="10881360" cy="1645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feat(ml): UIS XGBoost 모델 walk-forward 백테스트 재실행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feat(ml): XGB feature importance + Granger 인과 + ECE 측정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feat(ml): PoI 보정 — 실측 vs 시뮬 quanta 회귀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docs(ml): 모델 카드 v1.0 (datasheet + 사용 제한)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perf(ml): 추론 50ms → 10ms (XGBoost predict_proba 캐시)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640080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나눔스퀘어라운드"/>
              </a:rPr>
              <a:t>ThinQ Workspace Sentinel — ML 역할 가이드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73152"/>
            <a:ext cx="384048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나눔스퀘어라운드"/>
              </a:rPr>
              <a:t>p.2 / 6  ·  Walk-Forward 백테스트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48640"/>
            <a:ext cx="12191695" cy="54864"/>
          </a:xfrm>
          <a:prstGeom prst="rect">
            <a:avLst/>
          </a:prstGeom>
          <a:solidFill>
            <a:srgbClr val="1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나눔스퀘어라운드"/>
              </a:rPr>
              <a:t>github.com/zln02/thinq-workspace-sentinel  ·  2026-06-02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F2A4A"/>
                </a:solidFill>
                <a:latin typeface="나눔스퀘어라운드"/>
              </a:rPr>
              <a:t>F1 0.907 — 17 시·도 walk-forward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554480"/>
            <a:ext cx="11155680" cy="27432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27632"/>
            <a:ext cx="10789920" cy="2596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# ml/forecaster/backtest.py</a:t>
            </a:r>
          </a:p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def walk_forward(X, y, region, n_splits=10):</a:t>
            </a:r>
          </a:p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    metrics = []</a:t>
            </a:r>
          </a:p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    splits = TimeSeriesSplit(n_splits=n_splits)</a:t>
            </a:r>
          </a:p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    for tr, te in splits.split(X):</a:t>
            </a:r>
          </a:p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        m = xgb.XGBClassifier(**HPARAMS)</a:t>
            </a:r>
          </a:p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        m.fit(X[tr], y[tr])</a:t>
            </a:r>
          </a:p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        y_pred = m.predict(X[te])</a:t>
            </a:r>
          </a:p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        metrics.append({</a:t>
            </a:r>
          </a:p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            "f1": f1_score(y[te], y_pred),</a:t>
            </a:r>
          </a:p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            "precision": precision_score(y[te], y_pred),</a:t>
            </a:r>
          </a:p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            "recall": recall_score(y[te], y_pred),</a:t>
            </a:r>
          </a:p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            "ece": calibration.expected_calibration_error(y[te], y_pred)</a:t>
            </a:r>
          </a:p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        })</a:t>
            </a:r>
          </a:p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    return bootstrap_ci(metrics, n=1000)  # 95% CI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434840"/>
            <a:ext cx="73152" cy="1828800"/>
          </a:xfrm>
          <a:prstGeom prst="rect">
            <a:avLst/>
          </a:prstGeom>
          <a:solidFill>
            <a:srgbClr val="1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4434840"/>
            <a:ext cx="11082528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507992"/>
            <a:ext cx="1088136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F2A4A"/>
                </a:solidFill>
                <a:latin typeface="나눔스퀘어라운드"/>
              </a:rPr>
              <a:t>실측 결과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892040"/>
            <a:ext cx="10881360" cy="12801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F1 평균 0.907 (95% CI [0.881, 0.923])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Precision 0.940 / Recall 0.882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리드타임 3~8주 (병원체 별 분포)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ECE 0.043 (calibration 양호)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640080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나눔스퀘어라운드"/>
              </a:rPr>
              <a:t>ThinQ Workspace Sentinel — ML 역할 가이드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73152"/>
            <a:ext cx="384048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나눔스퀘어라운드"/>
              </a:rPr>
              <a:t>p.3 / 6  ·  설명력 (XGB importance + Granger + TFT)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48640"/>
            <a:ext cx="12191695" cy="54864"/>
          </a:xfrm>
          <a:prstGeom prst="rect">
            <a:avLst/>
          </a:prstGeom>
          <a:solidFill>
            <a:srgbClr val="1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나눔스퀘어라운드"/>
              </a:rPr>
              <a:t>github.com/zln02/thinq-workspace-sentinel  ·  2026-06-02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F2A4A"/>
                </a:solidFill>
                <a:latin typeface="나눔스퀘어라운드"/>
              </a:rPr>
              <a:t>왜 예측했는가 — XGBoost importance + Granger 인과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554480"/>
            <a:ext cx="73152" cy="2011680"/>
          </a:xfrm>
          <a:prstGeom prst="rect">
            <a:avLst/>
          </a:prstGeom>
          <a:solidFill>
            <a:srgbClr val="1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" y="1554480"/>
            <a:ext cx="11082528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627632"/>
            <a:ext cx="1088136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F2A4A"/>
                </a:solidFill>
                <a:latin typeface="나눔스퀘어라운드"/>
              </a:rPr>
              <a:t>Top 5 기여 변수 (XGBoost gain importance / 인플루엔자)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011680"/>
            <a:ext cx="10881360" cy="1463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1. 약국 항바이러스제 판매량 (4주 lag) — gain 0.21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2. 검색 트렌드 "독감 증상" (2주 lag) — gain 0.18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3. 평균 기온 (당주) — gain 0.15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4. 하수 RT-PCR 양성률 (3주 lag) — gain 0.11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5. 학교 결석률 (1주 lag) — gain 0.09 (Granger p&lt;0.05)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657600"/>
            <a:ext cx="73152" cy="2560320"/>
          </a:xfrm>
          <a:prstGeom prst="rect">
            <a:avLst/>
          </a:prstGeom>
          <a:solidFill>
            <a:srgbClr val="1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" y="3657600"/>
            <a:ext cx="11082528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730752"/>
            <a:ext cx="1088136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F2A4A"/>
                </a:solidFill>
                <a:latin typeface="나눔스퀘어라운드"/>
              </a:rPr>
              <a:t>발표 활용 (SHAP/GAM 사용 금지 — 코드 실재 X)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114800"/>
            <a:ext cx="10881360" cy="20116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Mode 2 라이브 시연 직후 슬라이드 전환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"왜 우리 모델이 3주 전에 알았나? 약국 + 검색 + 기상 4 신호"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XGBoost feature_importances_ bar plot (gain 기준)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Granger causality test p-value 표 (4 lag × 5 변수)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TFT attention heatmap (PoC 합성데이터 / 실데이터 전환 로드맵)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640080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나눔스퀘어라운드"/>
              </a:rPr>
              <a:t>ThinQ Workspace Sentinel — ML 역할 가이드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73152"/>
            <a:ext cx="384048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나눔스퀘어라운드"/>
              </a:rPr>
              <a:t>p.4 / 6  ·  PoI 보정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48640"/>
            <a:ext cx="12191695" cy="54864"/>
          </a:xfrm>
          <a:prstGeom prst="rect">
            <a:avLst/>
          </a:prstGeom>
          <a:solidFill>
            <a:srgbClr val="1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나눔스퀘어라운드"/>
              </a:rPr>
              <a:t>github.com/zln02/thinq-workspace-sentinel  ·  2026-06-02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F2A4A"/>
                </a:solidFill>
                <a:latin typeface="나눔스퀘어라운드"/>
              </a:rPr>
              <a:t>Wells-Riley quanta 보정 (실측 ↔ 시뮬)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554480"/>
            <a:ext cx="11155680" cy="23774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27632"/>
            <a:ext cx="10789920" cy="223113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# ml/poi_calibration/calibrator.py</a:t>
            </a:r>
          </a:p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def calibrate_quanta(observed_co2, observed_attack_rate, pathogen):</a:t>
            </a:r>
          </a:p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    """실측 CO2 + 감염률 → quanta 회귀로 보정"""</a:t>
            </a:r>
          </a:p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    # Wells-Riley: P = 1 - exp(-Iqpt / Q)</a:t>
            </a:r>
          </a:p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    # I=감염자수, q=quanta/h, p=호흡량, t=체류, Q=환기율</a:t>
            </a:r>
          </a:p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    def loss(q):</a:t>
            </a:r>
          </a:p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        predicted = 1 - np.exp(-1 * q * 0.5 * t / Q)</a:t>
            </a:r>
          </a:p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        return ((predicted - observed_attack_rate) ** 2).sum()</a:t>
            </a:r>
          </a:p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    res = minimize(loss, x0=PATHOGEN_QUANTA[pathogen])</a:t>
            </a:r>
          </a:p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    return res.x[0]  # 보정된 quanta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023360"/>
            <a:ext cx="73152" cy="2194560"/>
          </a:xfrm>
          <a:prstGeom prst="rect">
            <a:avLst/>
          </a:prstGeom>
          <a:solidFill>
            <a:srgbClr val="1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4023360"/>
            <a:ext cx="11082528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096512"/>
            <a:ext cx="1088136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F2A4A"/>
                </a:solidFill>
                <a:latin typeface="나눔스퀘어라운드"/>
              </a:rPr>
              <a:t>DoD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480560"/>
            <a:ext cx="10881360" cy="1645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8 병원체 × 시즌 보정 quanta 테이블 (32개 값)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실측 데이터 부재 시 문헌값 사용 (출처 명시)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pipeline/simulator/space.py 에 quanta dict 갱신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PoI 감축율 평균 ≥ 80% 유지 (회귀 방지)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640080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나눔스퀘어라운드"/>
              </a:rPr>
              <a:t>ThinQ Workspace Sentinel — ML 역할 가이드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73152"/>
            <a:ext cx="384048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나눔스퀘어라운드"/>
              </a:rPr>
              <a:t>p.5 / 6  ·  의존 그래프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48640"/>
            <a:ext cx="12191695" cy="54864"/>
          </a:xfrm>
          <a:prstGeom prst="rect">
            <a:avLst/>
          </a:prstGeom>
          <a:solidFill>
            <a:srgbClr val="1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나눔스퀘어라운드"/>
              </a:rPr>
              <a:t>github.com/zln02/thinq-workspace-sentinel  ·  2026-06-02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F2A4A"/>
                </a:solidFill>
                <a:latin typeface="나눔스퀘어라운드"/>
              </a:rPr>
              <a:t>의존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554480"/>
            <a:ext cx="73152" cy="2194560"/>
          </a:xfrm>
          <a:prstGeom prst="rect">
            <a:avLst/>
          </a:prstGeom>
          <a:solidFill>
            <a:srgbClr val="1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" y="1554480"/>
            <a:ext cx="5413248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627632"/>
            <a:ext cx="521208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F2A4A"/>
                </a:solidFill>
                <a:latin typeface="나눔스퀘어라운드"/>
              </a:rPr>
              <a:t>나를 막는 의존 (UPSTREAM)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011680"/>
            <a:ext cx="5212080" cy="1645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UIS 캡스톤 데이터 export (외부)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Pipeline: VOC 626건 LDA 5 토픽 (W1)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DevOps: 모델 artifact 저장소 (S3 또는 git LFS)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554480"/>
            <a:ext cx="73152" cy="2194560"/>
          </a:xfrm>
          <a:prstGeom prst="rect">
            <a:avLst/>
          </a:prstGeom>
          <a:solidFill>
            <a:srgbClr val="1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91072" y="1554480"/>
            <a:ext cx="5413248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627632"/>
            <a:ext cx="521208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F2A4A"/>
                </a:solidFill>
                <a:latin typeface="나눔스퀘어라운드"/>
              </a:rPr>
              <a:t>내가 막는 의존 (DOWNSTREAM)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011680"/>
            <a:ext cx="5212080" cy="1645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Backend: F1/precision/recall 응답 (KPI API)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Pipeline: 보정된 quanta 값 (PoI 계산용)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Frontend: 모델 카드 표시 (PT 위젯 우상단)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931920"/>
            <a:ext cx="73152" cy="2286000"/>
          </a:xfrm>
          <a:prstGeom prst="rect">
            <a:avLst/>
          </a:prstGeom>
          <a:solidFill>
            <a:srgbClr val="1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3931920"/>
            <a:ext cx="11082528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005072"/>
            <a:ext cx="1088136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F2A4A"/>
                </a:solidFill>
                <a:latin typeface="나눔스퀘어라운드"/>
              </a:rPr>
              <a:t>모델 동결 (W6 화)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389120"/>
            <a:ext cx="10881360" cy="17373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시연 D-3 모델 가중치 동결 + git tag v1.0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동결 후 재훈련 금지 (시연 안정성 우선)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모델 카드 PDF + 데이터셋 출처 인쇄본 지참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640080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나눔스퀘어라운드"/>
              </a:rPr>
              <a:t>ThinQ Workspace Sentinel — ML 역할 가이드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73152"/>
            <a:ext cx="384048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나눔스퀘어라운드"/>
              </a:rPr>
              <a:t>p.6 / 6  ·  시연일 체크리스트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48640"/>
            <a:ext cx="12191695" cy="54864"/>
          </a:xfrm>
          <a:prstGeom prst="rect">
            <a:avLst/>
          </a:prstGeom>
          <a:solidFill>
            <a:srgbClr val="1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나눔스퀘어라운드"/>
              </a:rPr>
              <a:t>github.com/zln02/thinq-workspace-sentinel  ·  2026-06-02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F2A4A"/>
                </a:solidFill>
                <a:latin typeface="나눔스퀘어라운드"/>
              </a:rPr>
              <a:t>시연 D-Day ML 책임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554480"/>
            <a:ext cx="73152" cy="1828800"/>
          </a:xfrm>
          <a:prstGeom prst="rect">
            <a:avLst/>
          </a:prstGeom>
          <a:solidFill>
            <a:srgbClr val="1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" y="1554480"/>
            <a:ext cx="11082528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627632"/>
            <a:ext cx="1088136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F2A4A"/>
                </a:solidFill>
                <a:latin typeface="나눔스퀘어라운드"/>
              </a:rPr>
              <a:t>시연 1시간 전 점검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011680"/>
            <a:ext cx="10881360" cy="12801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F1 = 0.907 슬라이드 수치 일치 (발표대본 p17)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XGB importance bar plot + Granger p-value 표 사전 캡처 (백업)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모델 파일 SHA-256 vs 동결 tag 일치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추론 50ms 측정 (단발) + 캐시 확인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566160"/>
            <a:ext cx="73152" cy="1828800"/>
          </a:xfrm>
          <a:prstGeom prst="rect">
            <a:avLst/>
          </a:prstGeom>
          <a:solidFill>
            <a:srgbClr val="1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" y="3566160"/>
            <a:ext cx="11082528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639312"/>
            <a:ext cx="1088136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F2A4A"/>
                </a:solidFill>
                <a:latin typeface="나눔스퀘어라운드"/>
              </a:rPr>
              <a:t>심사위원 자주 묻는 질문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023360"/>
            <a:ext cx="10881360" cy="12801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Q. "데이터 출처는?" → UIS 캡스톤 README + 4 신호 출처 명시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Q. "왜 XGBoost?" → TFT/LSTM 대비 해석력 + 적은 데이터 강건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Q. "예측 틀리면?" → ECE 0.043 calibration + 5 시도 임계값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669280"/>
            <a:ext cx="1115568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1F2A4A"/>
                </a:solidFill>
                <a:latin typeface="나눔스퀘어라운드"/>
              </a:rPr>
              <a:t>"내 책임은 F1 0.907 숫자에 일관성 보장하는 것"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